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/>
            </a:pPr>
            <a:r>
              <a:t>Player Tracking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Practice Session Workload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4,841 yd</a:t>
            </a:r>
          </a:p>
          <a:p>
            <a:pPr>
              <a:defRPr sz="1200"/>
            </a:pPr>
            <a:r>
              <a:t>Total Distance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18.7 mph</a:t>
            </a:r>
          </a:p>
          <a:p>
            <a:pPr>
              <a:defRPr sz="1200"/>
            </a:pPr>
            <a:r>
              <a:t>Max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112.2 min</a:t>
            </a:r>
          </a:p>
          <a:p>
            <a:pPr>
              <a:defRPr sz="1200"/>
            </a:pPr>
            <a:r>
              <a:t>Duration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217 yd</a:t>
            </a:r>
          </a:p>
          <a:p>
            <a:pPr>
              <a:defRPr sz="1200"/>
            </a:pPr>
            <a:r>
              <a:t>HSR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Session Date: 2025-10-09     |     QC Status: PASS     |     10 Hz GPS  |  65,410 samples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Session Overview &amp;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QC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65,410</a:t>
            </a:r>
          </a:p>
          <a:p>
            <a:pPr>
              <a:defRPr sz="1200"/>
            </a:pPr>
            <a:r>
              <a:t>GPS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100%</a:t>
            </a:r>
          </a:p>
          <a:p>
            <a:pPr>
              <a:defRPr sz="1200"/>
            </a:pPr>
            <a:r>
              <a:t>Cadence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 gaps</a:t>
            </a:r>
          </a:p>
          <a:p>
            <a:pPr>
              <a:defRPr sz="1200"/>
            </a:pPr>
            <a:r>
              <a:t>Data 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0.979</a:t>
            </a:r>
          </a:p>
          <a:p>
            <a:pPr>
              <a:defRPr sz="1200"/>
            </a:pPr>
            <a:r>
              <a:t>Speed-XY Corr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Definitions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Speed Bands (mph): Standing (0.0-1.0), Walking (1.0-4.0), Jogging (4.0-8.0), Running (8.0-13.0), High-Speed (13.0-16.0), Sprint (16.0-∞)</a:t>
            </a:r>
            <a:br/>
            <a:br/>
            <a:r>
              <a:t>Thresholds: HSR ≥13.0 mph, Sprint ≥16.0 mph, Accel ≥2.0 m/s², Decel ≤-2.0 m/s²</a:t>
            </a:r>
            <a:br/>
            <a:br/>
            <a:r>
              <a:t>Event Detection: Sustained threshold exposure ≥1.0s</a:t>
            </a:r>
            <a:br/>
            <a:r>
              <a:t>Distance Source: Speed-integrated (s×dt); vendor 'dis' column rejected due to systematic error</a:t>
            </a:r>
            <a:br/>
            <a:r>
              <a:t>Validation: XY-derived distance correlation = 0.979 (validates speed channel)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Where: Spatial Movement &amp; Position Heatmap</a:t>
            </a:r>
          </a:p>
        </p:txBody>
      </p:sp>
      <p:pic>
        <p:nvPicPr>
          <p:cNvPr id="4" name="Picture 3" descr="0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674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When: Speed Timeline &amp; Session Phases</a:t>
            </a:r>
          </a:p>
        </p:txBody>
      </p:sp>
      <p:pic>
        <p:nvPicPr>
          <p:cNvPr id="4" name="Picture 3" descr="02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882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What: Peak Demand Profile</a:t>
            </a:r>
          </a:p>
        </p:txBody>
      </p:sp>
      <p:pic>
        <p:nvPicPr>
          <p:cNvPr id="4" name="Picture 3" descr="03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394116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0" y="4389120"/>
          <a:ext cx="3200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</a:tblGrid>
              <a:tr h="329184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Count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HSR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Sprint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Accel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11.0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Decel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Early vs Late: Fatigue &amp; Output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Detected 21 session phases:</a:t>
            </a:r>
            <a:br/>
            <a:r>
              <a:t>  Rest: 11 phases</a:t>
            </a:r>
            <a:br/>
            <a:r>
              <a:t>  Low: 1 phases</a:t>
            </a:r>
            <a:br/>
            <a:r>
              <a:t>  Moderate: 2 phases</a:t>
            </a:r>
            <a:br/>
            <a:r>
              <a:t>  Moderate-High: 4 phases</a:t>
            </a:r>
            <a:br/>
            <a:r>
              <a:t>  High: 3 phases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097280"/>
          <a:ext cx="411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822960"/>
                <a:gridCol w="822960"/>
                <a:gridCol w="822960"/>
              </a:tblGrid>
              <a:tr h="33528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duration_min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max_speed_mph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4.1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3.0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4.2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8.8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9.1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47472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72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duration_min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distance_rate_yd_min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mean_speed_mph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max_speed_mph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hsr_distance_yd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sprint_distance_yd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hsr_events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sprint_events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accel_events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decel_events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delta_%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Early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baseline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Late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2504.8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+7.3%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303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Late-session output: +7.3% vs early half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Key 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QC Status: QC PASS</a:t>
            </a:r>
            <a:br/>
            <a:r>
              <a:t>Speed-XY Correlation: 0.979 (PASS)</a:t>
            </a:r>
            <a:br/>
            <a:br/>
            <a:r>
              <a:t>Session Summary:</a:t>
            </a:r>
            <a:br/>
            <a:r>
              <a:t>• Total Distance: 4840 yards over 112.2 minutes</a:t>
            </a:r>
            <a:br/>
            <a:r>
              <a:t>• Max Speed: 18.7 mph (skill position profile)</a:t>
            </a:r>
            <a:br/>
            <a:r>
              <a:t>• HSR Distance: 217 yd (6 events ≥1s)</a:t>
            </a:r>
            <a:br/>
            <a:r>
              <a:t>• Sprint Distance: 84 yd (4 events ≥1s)</a:t>
            </a:r>
            <a:br/>
            <a:br/>
            <a:r>
              <a:t>Phase Structure:</a:t>
            </a:r>
            <a:br/>
            <a:r>
              <a:t>• 21 distinct phases identified</a:t>
            </a:r>
            <a:br/>
            <a:r>
              <a:t>• High-intensity work clustered in specific drill blocks</a:t>
            </a:r>
            <a:br/>
            <a:r>
              <a:t>• Late-session output: +7.3% vs early half</a:t>
            </a:r>
            <a:br/>
            <a:br/>
            <a:r>
              <a:t>Peak Demands (defines conditioning targets):</a:t>
            </a:r>
            <a:br/>
            <a:r>
              <a:t>• Best 15s: 74.4 yd (298 yd/min)</a:t>
            </a:r>
            <a:br/>
            <a:r>
              <a:t>• Best 30s: 98.8 yd (198 yd/min)</a:t>
            </a:r>
            <a:br/>
            <a:r>
              <a:t>• Best 1min: 135.1 yd (135 yd/min)</a:t>
            </a:r>
            <a:br/>
            <a:r>
              <a:t>• Best 2min: 221.1 yd (111 yd/min)</a:t>
            </a:r>
            <a:br/>
            <a:r>
              <a:t>• Best 5min: 432.4 yd (86 yd/min)</a:t>
            </a:r>
            <a:br/>
            <a:br/>
            <a:r>
              <a:t>Recommendations:</a:t>
            </a:r>
            <a:br/>
            <a:r>
              <a:t>&gt; Use peak window values to anchor position-specific conditioning drills</a:t>
            </a:r>
            <a:br/>
            <a:r>
              <a:t>&gt; Monitor early vs late drift as a readiness signal across sessions</a:t>
            </a:r>
            <a:br/>
            <a:r>
              <a:t>&gt; Target HSR exposure in specific drill phases (not distributed evenly)</a:t>
            </a:r>
            <a:br/>
            <a:r>
              <a:t>&gt; Validate movement patterns against position/role expectations</a:t>
            </a:r>
            <a:br/>
            <a:br/>
            <a:r>
              <a:t>Generated with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