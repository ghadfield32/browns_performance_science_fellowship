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Player Tracking Analysis: Practice Session Workload Report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Session Date: 2025-10-09</a:t>
            </a:r>
          </a:p>
          <a:p>
            <a:r>
              <a:t>Duration: 112.2 minutes</a:t>
            </a:r>
          </a:p>
          <a:p>
            <a:r>
              <a:t>QC Status: QC WARN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/>
            </a:pPr>
            <a:r>
              <a:t>Session Snapshot + Data Quality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41148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/>
            </a:pPr>
            <a:r>
              <a:t>Session Snapshot</a:t>
            </a:r>
            <a:br/>
            <a:r>
              <a:t>- Duration: 112.2 min</a:t>
            </a:r>
            <a:br/>
            <a:r>
              <a:t>- Total distance: 4,841 yd</a:t>
            </a:r>
            <a:br/>
            <a:r>
              <a:t>- Mean speed: 1.51 mph</a:t>
            </a:r>
            <a:br/>
            <a:r>
              <a:t>- Peak speed: 18.71 mph</a:t>
            </a:r>
            <a:br/>
            <a:r>
              <a:t>- Peak accel/decel: 4.93 / -5.12 m/s^2</a:t>
            </a:r>
            <a:br/>
            <a:r>
              <a:t>- HSR threshold for this report: 13.0 mph</a:t>
            </a:r>
            <a:br/>
            <a:r>
              <a:t>- Sampling gaps (&gt;0.15 s): 6</a:t>
            </a:r>
            <a:br/>
            <a:r>
              <a:t>- HSR/Sprint events (&gt;=1s): 6 / 4</a:t>
            </a:r>
            <a:br/>
            <a:r>
              <a:t>- Accel/Decel events: 20 / 4</a:t>
            </a:r>
            <a:br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029200" y="1097280"/>
          <a:ext cx="365760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7200"/>
                <a:gridCol w="457200"/>
                <a:gridCol w="457200"/>
                <a:gridCol w="457200"/>
                <a:gridCol w="457200"/>
                <a:gridCol w="457200"/>
                <a:gridCol w="457200"/>
                <a:gridCol w="457200"/>
              </a:tblGrid>
              <a:tr h="457200">
                <a:tc>
                  <a:txBody>
                    <a:bodyPr/>
                    <a:lstStyle/>
                    <a:p>
                      <a:pPr>
                        <a:defRPr b="1" sz="1100"/>
                      </a:pPr>
                      <a:r>
                        <a:t>gate_key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100"/>
                      </a:pPr>
                      <a:r>
                        <a:t>Gate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100"/>
                      </a:pPr>
                      <a:r>
                        <a:t>Status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100"/>
                      </a:pPr>
                      <a:r>
                        <a:t>Value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100"/>
                      </a:pPr>
                      <a:r>
                        <a:t>Threshold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100"/>
                      </a:pPr>
                      <a:r>
                        <a:t>Direction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100"/>
                      </a:pPr>
                      <a:r>
                        <a:t>Unit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100"/>
                      </a:pPr>
                      <a:r>
                        <a:t>Notes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cadence_on_target_pct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Cadence on target (%)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PASS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100.0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95.0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&gt;=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100.0% on-target cadence; gaps above 0.15s: 6 samples.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max_gap_s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Max time gap (s)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WARN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80.3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0.5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&lt;=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Max dt observed 80.30s (gate limit for pass 0.50s).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improbable_jump_pct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Improbable position jump (%)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PASS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0.0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0.5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&lt;=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7 of 65410 samples imply XY speed &gt; 14.0 yd/s.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speed_alignment_corr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Provided vs derived speed correlation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PASS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0.9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0.8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&gt;=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Pearson correlation on 65410 aligned samples.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50292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/>
            </a:pPr>
            <a:r>
              <a:t>Key Takeaways:</a:t>
            </a:r>
            <a:br/>
            <a:r>
              <a:t>Data QA Summary</a:t>
            </a:r>
            <a:br/>
            <a:r>
              <a:t>- QC: QC WARN; Overall status: WARN.</a:t>
            </a:r>
            <a:br/>
            <a:r>
              <a:t>- 100.0% samples at 0.1s cadence.</a:t>
            </a:r>
            <a:br/>
            <a:r>
              <a:t>- Max gap: 80.30s; gaps flagged above 0.15s.</a:t>
            </a:r>
            <a:br/>
            <a:r>
              <a:t>- Inactive samples (&lt;= 0.5 mph): 43.1%.</a:t>
            </a:r>
            <a:br/>
            <a:r>
              <a:t>- Position outliers (0.01-0.99 quantiles): 4.01%.</a:t>
            </a:r>
            <a:br/>
            <a:r>
              <a:t>- Speed-vs-XY sanity: corr 0.904, outliers 0.07%.</a:t>
            </a:r>
            <a:br/>
            <a:r>
              <a:t>- Outlier threshold: 0.62 yd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/>
            </a:pPr>
            <a:r>
              <a:t>Where: Spatial Usage and Peak Windows</a:t>
            </a:r>
          </a:p>
        </p:txBody>
      </p:sp>
      <p:pic>
        <p:nvPicPr>
          <p:cNvPr id="4" name="Picture 3" descr="coach_slide_movement_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097280"/>
            <a:ext cx="7315200" cy="10986043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594360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/>
            </a:pPr>
            <a:r>
              <a:t>Peak demand windows show concentrated high-intensity zones on field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/>
            </a:pPr>
            <a:r>
              <a:t>When: Intensity Timeline</a:t>
            </a:r>
          </a:p>
        </p:txBody>
      </p:sp>
      <p:pic>
        <p:nvPicPr>
          <p:cNvPr id="4" name="Picture 3" descr="coach_slide_intensity_time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914400"/>
            <a:ext cx="8229600" cy="4387787"/>
          </a:xfrm>
          <a:prstGeom prst="rect">
            <a:avLst/>
          </a:prstGeom>
        </p:spPr>
      </p:pic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1828800" y="5029200"/>
          <a:ext cx="5486400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8640"/>
                <a:gridCol w="548640"/>
                <a:gridCol w="548640"/>
                <a:gridCol w="548640"/>
                <a:gridCol w="548640"/>
                <a:gridCol w="548640"/>
                <a:gridCol w="548640"/>
                <a:gridCol w="548640"/>
                <a:gridCol w="548640"/>
                <a:gridCol w="548640"/>
              </a:tblGrid>
              <a:tr h="342900">
                <a:tc>
                  <a:txBody>
                    <a:bodyPr/>
                    <a:lstStyle/>
                    <a:p>
                      <a:pPr>
                        <a:defRPr b="1" sz="1100"/>
                      </a:pPr>
                      <a:r>
                        <a:t>Window duration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100"/>
                      </a:pPr>
                      <a:r>
                        <a:t>Window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100"/>
                      </a:pPr>
                      <a:r>
                        <a:t>Start (UTC)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100"/>
                      </a:pPr>
                      <a:r>
                        <a:t>End (UTC)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100"/>
                      </a:pPr>
                      <a:r>
                        <a:t>Peak intensity (yd/min)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100"/>
                      </a:pPr>
                      <a:r>
                        <a:t>Distance in window (yd)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100"/>
                      </a:pPr>
                      <a:r>
                        <a:t>Dominant phase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100"/>
                      </a:pPr>
                      <a:r>
                        <a:t>HSR events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100"/>
                      </a:pPr>
                      <a:r>
                        <a:t>Accel events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100"/>
                      </a:pPr>
                      <a:r>
                        <a:t>Decel events</a:t>
                      </a:r>
                    </a:p>
                  </a:txBody>
                  <a:tcPr/>
                </a:tc>
              </a:tr>
              <a:tr h="34290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30s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19:18:54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19:19:24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197.7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98.8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Phase 03: Conditioning Push (Moderate)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0</a:t>
                      </a:r>
                    </a:p>
                  </a:txBody>
                  <a:tcPr/>
                </a:tc>
              </a:tr>
              <a:tr h="34290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30s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19:07:13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19:07:43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175.6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87.8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Phase 03: Conditioning Push (Moderate)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0</a:t>
                      </a:r>
                    </a:p>
                  </a:txBody>
                  <a:tcPr/>
                </a:tc>
              </a:tr>
              <a:tr h="34290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30s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19:41:57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19:42:27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174.4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87.2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Phase 03: Conditioning Push (Moderate)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0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/>
            </a:pPr>
            <a:r>
              <a:t>What: Peak Demands</a:t>
            </a:r>
          </a:p>
        </p:txBody>
      </p:sp>
      <p:pic>
        <p:nvPicPr>
          <p:cNvPr id="4" name="Picture 3" descr="coach_slide_peak_demand_summa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914400"/>
            <a:ext cx="7315200" cy="3257842"/>
          </a:xfrm>
          <a:prstGeom prst="rect">
            <a:avLst/>
          </a:prstGeom>
        </p:spPr>
      </p:pic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4114800"/>
          <a:ext cx="36576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1520"/>
                <a:gridCol w="731520"/>
                <a:gridCol w="731520"/>
                <a:gridCol w="731520"/>
                <a:gridCol w="731520"/>
              </a:tblGrid>
              <a:tr h="365760">
                <a:tc>
                  <a:txBody>
                    <a:bodyPr/>
                    <a:lstStyle/>
                    <a:p>
                      <a:pPr>
                        <a:defRPr b="1" sz="1100"/>
                      </a:pPr>
                      <a:r>
                        <a:t>Window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100"/>
                      </a:pPr>
                      <a:r>
                        <a:t>Peak intensity (yd/min)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100"/>
                      </a:pPr>
                      <a:r>
                        <a:t>Best distance (yd)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100"/>
                      </a:pPr>
                      <a:r>
                        <a:t>Start (UTC)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100"/>
                      </a:pPr>
                      <a:r>
                        <a:t>End (UTC)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30s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197.7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98.8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19:18:54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19:19:24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1m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135.1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135.1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19:18:09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19:19:09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3m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105.8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317.3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19:16:25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19:19:25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5m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86.5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432.4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19:15:50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19:20:50</a:t>
                      </a:r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0" y="4114800"/>
          <a:ext cx="36576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09600"/>
                <a:gridCol w="609600"/>
                <a:gridCol w="609600"/>
                <a:gridCol w="609600"/>
                <a:gridCol w="609600"/>
                <a:gridCol w="609600"/>
              </a:tblGrid>
              <a:tr h="914400">
                <a:tc>
                  <a:txBody>
                    <a:bodyPr/>
                    <a:lstStyle/>
                    <a:p>
                      <a:pPr>
                        <a:defRPr b="1" sz="1100"/>
                      </a:pPr>
                      <a:r>
                        <a:t>HSR events (&gt;=1s)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100"/>
                      </a:pPr>
                      <a:r>
                        <a:t>Sprint events (&gt;=1s)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100"/>
                      </a:pPr>
                      <a:r>
                        <a:t>Accel events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100"/>
                      </a:pPr>
                      <a:r>
                        <a:t>Decel events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100"/>
                      </a:pPr>
                      <a:r>
                        <a:t>HSR distance (yd)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100"/>
                      </a:pPr>
                      <a:r>
                        <a:t>Sprint distance (yd)</a:t>
                      </a:r>
                    </a:p>
                  </a:txBody>
                  <a:tcPr/>
                </a:tc>
              </a:tr>
              <a:tr h="91440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216.7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84.4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/>
            </a:pPr>
            <a:r>
              <a:t>Speed Zone Breakdown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1371600" y="1371600"/>
          <a:ext cx="640080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66800"/>
                <a:gridCol w="1066800"/>
                <a:gridCol w="1066800"/>
                <a:gridCol w="1066800"/>
                <a:gridCol w="1066800"/>
                <a:gridCol w="1066800"/>
              </a:tblGrid>
              <a:tr h="457200">
                <a:tc>
                  <a:txBody>
                    <a:bodyPr/>
                    <a:lstStyle/>
                    <a:p>
                      <a:pPr>
                        <a:defRPr b="1" sz="1100"/>
                      </a:pPr>
                      <a:r>
                        <a:t>Zone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100"/>
                      </a:pPr>
                      <a:r>
                        <a:t>Distance (yd)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100"/>
                      </a:pPr>
                      <a:r>
                        <a:t>Distance (%)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100"/>
                      </a:pPr>
                      <a:r>
                        <a:t>Time (s)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100"/>
                      </a:pPr>
                      <a:r>
                        <a:t>Time (%)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100"/>
                      </a:pPr>
                      <a:r>
                        <a:t>Mean speed (mph)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Walk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2486.1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51.4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5879.5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87.3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0.9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Cruise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1696.8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35.1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741.4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11.0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4.7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Run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441.1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9.1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82.9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1.2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10.9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HSR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132.2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2.7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19.2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0.3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14.1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Sprint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84.4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1.7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10.0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0.1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17.3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914400" y="4572000"/>
            <a:ext cx="7315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/>
            </a:pPr>
            <a:r>
              <a:t>Key Insights:</a:t>
            </a:r>
            <a:br/>
            <a:r>
              <a:t>Speed Zone Takeaways</a:t>
            </a:r>
            <a:br/>
            <a:r>
              <a:t>- Largest distance accumulation: Walk (51.4% of total distance).</a:t>
            </a:r>
            <a:br/>
            <a:r>
              <a:t>- HSR exposure classification for this session: Low.</a:t>
            </a:r>
            <a:br/>
            <a:r>
              <a:t>- Action: increase high-speed drill density only in phases already showing stable quality gates.</a:t>
            </a:r>
            <a:b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/>
            </a:pPr>
            <a:r>
              <a:t>Session Structure: Phases + Early vs Late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097280"/>
          <a:ext cx="8229595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48145"/>
                <a:gridCol w="748145"/>
                <a:gridCol w="748145"/>
                <a:gridCol w="748145"/>
                <a:gridCol w="748145"/>
                <a:gridCol w="748145"/>
                <a:gridCol w="748145"/>
                <a:gridCol w="748145"/>
                <a:gridCol w="748145"/>
                <a:gridCol w="748145"/>
                <a:gridCol w="748145"/>
              </a:tblGrid>
              <a:tr h="304800">
                <a:tc>
                  <a:txBody>
                    <a:bodyPr/>
                    <a:lstStyle/>
                    <a:p>
                      <a:pPr>
                        <a:defRPr b="1" sz="1100"/>
                      </a:pPr>
                      <a:r>
                        <a:t>Phase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100"/>
                      </a:pPr>
                      <a:r>
                        <a:t>Phase type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100"/>
                      </a:pPr>
                      <a:r>
                        <a:t>Intensity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100"/>
                      </a:pPr>
                      <a:r>
                        <a:t>Duration (min)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100"/>
                      </a:pPr>
                      <a:r>
                        <a:t>Distance (yd)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100"/>
                      </a:pPr>
                      <a:r>
                        <a:t>HSR distance (yd)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100"/>
                      </a:pPr>
                      <a:r>
                        <a:t>Accel events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100"/>
                      </a:pPr>
                      <a:r>
                        <a:t>Decel events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100"/>
                      </a:pPr>
                      <a:r>
                        <a:t>Mean speed (mph)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100"/>
                      </a:pPr>
                      <a:r>
                        <a:t>Peak speed (mph)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100"/>
                      </a:pPr>
                      <a:r>
                        <a:t>Peak 60s distance (yd)</a:t>
                      </a:r>
                    </a:p>
                  </a:txBody>
                  <a:tcPr/>
                </a:tc>
              </a:tr>
              <a:tr h="30480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Phase 03: Conditioning Push (Moderate)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Conditioning Push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Moderate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70.0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3089.6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130.5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1.5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17.3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135.1</a:t>
                      </a:r>
                    </a:p>
                  </a:txBody>
                  <a:tcPr/>
                </a:tc>
              </a:tr>
              <a:tr h="30480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Phase 05: Technical / Install (Low)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Technical / Install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Low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7.4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518.2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7.8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2.4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13.5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127.7</a:t>
                      </a:r>
                    </a:p>
                  </a:txBody>
                  <a:tcPr/>
                </a:tc>
              </a:tr>
              <a:tr h="30480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Phase 01: Warm-up (Low)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Warm-up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Low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12.8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389.4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0.0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1.3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4.2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64.2</a:t>
                      </a:r>
                    </a:p>
                  </a:txBody>
                  <a:tcPr/>
                </a:tc>
              </a:tr>
              <a:tr h="30480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Phase 07: Conditioning Push (High)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Conditioning Push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High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4.8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365.9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78.3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2.6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18.7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114.2</a:t>
                      </a:r>
                    </a:p>
                  </a:txBody>
                  <a:tcPr/>
                </a:tc>
              </a:tr>
              <a:tr h="30480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Phase 02: Technical / Install (Low)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Technical / Install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Low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3.0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277.6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0.0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3.2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8.8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123.5</a:t>
                      </a:r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1828800" y="3200400"/>
          <a:ext cx="5486400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7200"/>
                <a:gridCol w="457200"/>
                <a:gridCol w="457200"/>
                <a:gridCol w="457200"/>
                <a:gridCol w="457200"/>
                <a:gridCol w="457200"/>
                <a:gridCol w="457200"/>
                <a:gridCol w="457200"/>
                <a:gridCol w="457200"/>
                <a:gridCol w="457200"/>
                <a:gridCol w="457200"/>
                <a:gridCol w="457200"/>
              </a:tblGrid>
              <a:tr h="457200">
                <a:tc>
                  <a:txBody>
                    <a:bodyPr/>
                    <a:lstStyle/>
                    <a:p>
                      <a:pPr>
                        <a:defRPr b="1" sz="1100"/>
                      </a:pPr>
                      <a:r>
                        <a:t>Period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100"/>
                      </a:pPr>
                      <a:r>
                        <a:t>Duration (min)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100"/>
                      </a:pPr>
                      <a:r>
                        <a:t>Distance (yd)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100"/>
                      </a:pPr>
                      <a:r>
                        <a:t>Distance vs early (%)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100"/>
                      </a:pPr>
                      <a:r>
                        <a:t>Mean speed (mph)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100"/>
                      </a:pPr>
                      <a:r>
                        <a:t>Peak speed (mph)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100"/>
                      </a:pPr>
                      <a:r>
                        <a:t>HSR distance (yd)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100"/>
                      </a:pPr>
                      <a:r>
                        <a:t>Sprint distance (yd)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100"/>
                      </a:pPr>
                      <a:r>
                        <a:t>HSR events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100"/>
                      </a:pPr>
                      <a:r>
                        <a:t>Sprint events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100"/>
                      </a:pPr>
                      <a:r>
                        <a:t>Accel events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100"/>
                      </a:pPr>
                      <a:r>
                        <a:t>Decel events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Early Half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56.1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2335.0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0.0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1.5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17.1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72.2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12.3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3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Late Half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56.1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2505.8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7.3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1.6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18.7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144.5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72.2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1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50292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/>
            </a:pPr>
            <a:r>
              <a:t>Phases: Session Phase Takeaways</a:t>
            </a:r>
            <a:br/>
            <a:r>
              <a:t>- Session merged into 8 coach-readable phases.</a:t>
            </a:r>
            <a:br/>
            <a:r>
              <a:t>- Highest-volume phase: Phase 03: Conditioning Push (Moderate) (3089.6 yd acros</a:t>
            </a:r>
            <a:br/>
            <a:br/>
            <a:r>
              <a:t>Early vs Late: Early vs Late Takeaways</a:t>
            </a:r>
            <a:br/>
            <a:r>
              <a:t>- Late-half distance vs early-half: +7.3%.</a:t>
            </a:r>
            <a:br/>
            <a:r>
              <a:t>- Late-half HSR/Sprint events: 4 / 3.</a:t>
            </a:r>
            <a:br/>
            <a:r>
              <a:t>- Late-half accel/decel events: 6 / 1.</a:t>
            </a:r>
            <a:br/>
            <a:r>
              <a:t>- Acti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/>
            </a:pPr>
            <a:r>
              <a:t>Key Takeaways &amp; Recommendations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7315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/>
            </a:pPr>
            <a:r>
              <a:t>QC Status: QC WARN</a:t>
            </a:r>
            <a:br/>
            <a:r>
              <a:t>Session Duration: 112.2 minutes</a:t>
            </a:r>
            <a:br/>
            <a:r>
              <a:t>Total Distance: 4841 yards</a:t>
            </a:r>
            <a:br/>
            <a:r>
              <a:t>Peak Speed: 18.7 mph</a:t>
            </a:r>
            <a:br/>
            <a:br/>
            <a:r>
              <a:t>Key Findings:</a:t>
            </a:r>
            <a:br/>
            <a:r>
              <a:t>• High-intensity work clustered in specific drill blocks</a:t>
            </a:r>
            <a:br/>
            <a:r>
              <a:t>• Peak 1-minute window defines worst-case conditioning target</a:t>
            </a:r>
            <a:br/>
            <a:r>
              <a:t>• Late-session output maintained relative to early half</a:t>
            </a:r>
            <a:br/>
            <a:r>
              <a:t>• Spatial usage consistent with position-specific demands</a:t>
            </a:r>
            <a:br/>
            <a:br/>
            <a:r>
              <a:t>Recommendations:</a:t>
            </a:r>
            <a:br/>
            <a:r>
              <a:t>• Use peak window values to anchor conditioning drills</a:t>
            </a:r>
            <a:br/>
            <a:r>
              <a:t>• Monitor early vs late drift as readiness signal</a:t>
            </a:r>
            <a:br/>
            <a:r>
              <a:t>• Target HSR exposure in specific drill phases</a:t>
            </a:r>
            <a:br/>
            <a:r>
              <a:t>• Validate movement patterns against position role</a:t>
            </a:r>
            <a:br/>
            <a:br/>
            <a:r>
              <a:t>Generated with Claude Code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